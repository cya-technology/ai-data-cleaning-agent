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43800" y="100584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982712" y="10058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21624" y="10058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60536" y="10058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299448" y="100584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738360" y="10058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77272" y="10058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616184" y="10058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055096" y="100584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43800" y="150876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82712" y="150876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21624" y="150876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60536" y="150876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99448" y="150876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50876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177272" y="150876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616184" y="150876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1055096" y="150876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543800" y="201168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982712" y="201168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21624" y="201168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860536" y="201168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299448" y="201168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738360" y="201168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177272" y="201168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616184" y="201168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1055096" y="201168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543800" y="251460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982712" y="251460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421624" y="251460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860536" y="251460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299448" y="251460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738360" y="251460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177272" y="251460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616184" y="251460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1055096" y="251460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543800" y="301752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982712" y="301752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21624" y="301752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860536" y="301752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299448" y="301752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738360" y="301752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177272" y="301752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616184" y="301752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1055096" y="301752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7543800" y="35204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982712" y="35204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421624" y="35204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860536" y="352044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299448" y="35204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738360" y="35204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177272" y="35204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616184" y="3520440"/>
            <a:ext cx="310896" cy="310896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1055096" y="3520440"/>
            <a:ext cx="310896" cy="310896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1520" y="1097280"/>
            <a:ext cx="6583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AI-Powered</a:t>
            </a:r>
            <a:br/>
            <a:r>
              <a:t>Data Migration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" y="2834640"/>
            <a:ext cx="6215932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C8D8E5"/>
                </a:solidFill>
                <a:latin typeface="Aptos"/>
              </a:defRPr>
            </a:pPr>
            <a:r>
              <a:rPr dirty="0"/>
              <a:t>Turning inconsistent client spreadsheets into clean, </a:t>
            </a:r>
            <a:endParaRPr lang="en-US" dirty="0"/>
          </a:p>
          <a:p>
            <a:pPr>
              <a:defRPr sz="2100">
                <a:solidFill>
                  <a:srgbClr val="C8D8E5"/>
                </a:solidFill>
                <a:latin typeface="Aptos"/>
              </a:defRPr>
            </a:pPr>
            <a:r>
              <a:rPr dirty="0"/>
              <a:t>SQL-ready data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" y="3977639"/>
            <a:ext cx="1508760" cy="384048"/>
          </a:xfrm>
          <a:prstGeom prst="roundRect">
            <a:avLst/>
          </a:prstGeom>
          <a:solidFill>
            <a:srgbClr val="2F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MICROSOFT FOUNDRY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423160" y="3977639"/>
            <a:ext cx="1234440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AGENT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794760" y="3977639"/>
            <a:ext cx="1600200" cy="384048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CODE INTERPRETER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41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3CDD7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3CDD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1"/>
                </a:solidFill>
                <a:latin typeface="Aptos Display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484"/>
                </a:solidFill>
                <a:latin typeface="Aptos"/>
              </a:defRPr>
            </a:pPr>
            <a:r>
              <a:t>Data migration often begins with spreadsheets that were designed for people—not databases.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3337560"/>
          </a:xfrm>
          <a:prstGeom prst="rect">
            <a:avLst/>
          </a:prstGeom>
          <a:solidFill>
            <a:srgbClr val="D2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Messy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0552"/>
            <a:ext cx="3017520" cy="2587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Misspellings</a:t>
            </a:r>
            <a:br/>
            <a:r>
              <a:t>Invalid values</a:t>
            </a:r>
            <a:br/>
            <a:r>
              <a:t>Misplaced data</a:t>
            </a:r>
            <a:br/>
            <a:r>
              <a:t>Inconsistent formatting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5087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508760"/>
            <a:ext cx="73152" cy="3337560"/>
          </a:xfrm>
          <a:prstGeom prst="rect">
            <a:avLst/>
          </a:prstGeom>
          <a:solidFill>
            <a:srgbClr val="EB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691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Manual Cleanup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130552"/>
            <a:ext cx="3017520" cy="2587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Slow review</a:t>
            </a:r>
            <a:br/>
            <a:r>
              <a:t>Repeated decisions</a:t>
            </a:r>
            <a:br/>
            <a:r>
              <a:t>Inconsistent corrections</a:t>
            </a:r>
            <a:br/>
            <a:r>
              <a:t>Hard to audit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508760"/>
            <a:ext cx="3429000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5864" y="1508760"/>
            <a:ext cx="73152" cy="33375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69163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Database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130552"/>
            <a:ext cx="3017520" cy="2587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Bad records</a:t>
            </a:r>
            <a:br/>
            <a:r>
              <a:t>Import failures</a:t>
            </a:r>
            <a:br/>
            <a:r>
              <a:t>Incorrect data types</a:t>
            </a:r>
            <a:br/>
            <a:r>
              <a:t>Loss of trust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5257800"/>
            <a:ext cx="3749039" cy="38404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THE GOAL: TRUSTED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4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7748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1"/>
                </a:solidFill>
                <a:latin typeface="Aptos Display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484"/>
                </a:solidFill>
                <a:latin typeface="Aptos"/>
              </a:defRPr>
            </a:pPr>
            <a:r>
              <a:t>An AI-assisted pipeline separates data cleaning from database loading.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87451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73152" cy="2148840"/>
          </a:xfrm>
          <a:prstGeom prst="rect">
            <a:avLst/>
          </a:prstGeom>
          <a:solidFill>
            <a:srgbClr val="2F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01  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1463039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Excel 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79" y="2880360"/>
            <a:ext cx="228600" cy="0"/>
          </a:xfrm>
          <a:prstGeom prst="line">
            <a:avLst/>
          </a:prstGeom>
          <a:ln w="3175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828800"/>
            <a:ext cx="187451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88920" y="1828800"/>
            <a:ext cx="73152" cy="2148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201168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02  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50592"/>
            <a:ext cx="1463039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Foundry + Code Interpreter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63440" y="2880360"/>
            <a:ext cx="228600" cy="0"/>
          </a:xfrm>
          <a:prstGeom prst="line">
            <a:avLst/>
          </a:prstGeom>
          <a:ln w="3175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83480" y="1828800"/>
            <a:ext cx="187451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83480" y="1828800"/>
            <a:ext cx="73152" cy="2148840"/>
          </a:xfrm>
          <a:prstGeom prst="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03  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450592"/>
            <a:ext cx="1463039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Apply data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0" y="2880360"/>
            <a:ext cx="228600" cy="0"/>
          </a:xfrm>
          <a:prstGeom prst="line">
            <a:avLst/>
          </a:prstGeom>
          <a:ln w="3175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78040" y="1828800"/>
            <a:ext cx="187451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78040" y="1828800"/>
            <a:ext cx="73152" cy="2148840"/>
          </a:xfrm>
          <a:prstGeom prst="rect">
            <a:avLst/>
          </a:prstGeom>
          <a:solidFill>
            <a:srgbClr val="EB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201168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04 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450592"/>
            <a:ext cx="1463039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Human validation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52559" y="2880360"/>
            <a:ext cx="228601" cy="0"/>
          </a:xfrm>
          <a:prstGeom prst="line">
            <a:avLst/>
          </a:prstGeom>
          <a:ln w="3175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72600" y="1828800"/>
            <a:ext cx="187451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72600" y="1828800"/>
            <a:ext cx="73152" cy="2148840"/>
          </a:xfrm>
          <a:prstGeom prst="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2011680"/>
            <a:ext cx="1463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05  IMPORT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2450592"/>
            <a:ext cx="1463039" cy="1399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SQL Server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8056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202A36"/>
                </a:solidFill>
                <a:latin typeface="Aptos"/>
              </a:defRPr>
            </a:pPr>
            <a:r>
              <a:t>The original workbook is preserved.</a:t>
            </a:r>
          </a:p>
          <a:p>
            <a:pPr>
              <a:spcAft>
                <a:spcPts val="1000"/>
              </a:spcAft>
              <a:defRPr sz="1600" b="0">
                <a:solidFill>
                  <a:srgbClr val="202A36"/>
                </a:solidFill>
                <a:latin typeface="Aptos"/>
              </a:defRPr>
            </a:pPr>
            <a:r>
              <a:t>AI performs the repetitive data-quality work.</a:t>
            </a:r>
          </a:p>
          <a:p>
            <a:pPr>
              <a:spcAft>
                <a:spcPts val="1000"/>
              </a:spcAft>
              <a:defRPr sz="1600" b="0">
                <a:solidFill>
                  <a:srgbClr val="202A36"/>
                </a:solidFill>
                <a:latin typeface="Aptos"/>
              </a:defRPr>
            </a:pPr>
            <a:r>
              <a:t>The workflow can include human approval before a database write.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4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7748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How Microsoft Foundry Fits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The agent orchestrates the reasoning; Code Interpreter performs the spreadsheet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83280" cy="3474720"/>
          </a:xfrm>
          <a:prstGeom prst="roundRect">
            <a:avLst/>
          </a:prstGeom>
          <a:solidFill>
            <a:srgbClr val="1C2D46"/>
          </a:solidFill>
          <a:ln w="1270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3474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Foundry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584" y="2221992"/>
            <a:ext cx="2980607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>
                <a:solidFill>
                  <a:srgbClr val="DCE6EE"/>
                </a:solidFill>
                <a:latin typeface="Aptos"/>
              </a:defRPr>
            </a:pPr>
            <a:r>
              <a:rPr dirty="0"/>
              <a:t>Defines the cleaning rules, </a:t>
            </a:r>
            <a:endParaRPr lang="en-US" dirty="0"/>
          </a:p>
          <a:p>
            <a:pPr>
              <a:defRPr sz="1250">
                <a:solidFill>
                  <a:srgbClr val="DCE6EE"/>
                </a:solidFill>
                <a:latin typeface="Aptos"/>
              </a:defRPr>
            </a:pPr>
            <a:r>
              <a:rPr dirty="0"/>
              <a:t>valid values, confidence requirements, and expected output.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00200"/>
            <a:ext cx="3383280" cy="3474720"/>
          </a:xfrm>
          <a:prstGeom prst="roundRect">
            <a:avLst/>
          </a:prstGeom>
          <a:solidFill>
            <a:srgbClr val="1C2D46"/>
          </a:solidFill>
          <a:ln w="1270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600200"/>
            <a:ext cx="73152" cy="3474720"/>
          </a:xfrm>
          <a:prstGeom prst="rect">
            <a:avLst/>
          </a:prstGeom>
          <a:solidFill>
            <a:srgbClr val="2F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17830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Structured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221992"/>
            <a:ext cx="2663614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CE6EE"/>
                </a:solidFill>
                <a:latin typeface="Aptos"/>
              </a:defRPr>
            </a:pPr>
            <a:r>
              <a:rPr dirty="0"/>
              <a:t>The local app uploads the workbook</a:t>
            </a:r>
            <a:endParaRPr lang="en-US" dirty="0"/>
          </a:p>
          <a:p>
            <a:pPr>
              <a:defRPr sz="1250">
                <a:solidFill>
                  <a:srgbClr val="DCE6EE"/>
                </a:solidFill>
                <a:latin typeface="Aptos"/>
              </a:defRPr>
            </a:pPr>
            <a:r>
              <a:rPr dirty="0"/>
              <a:t> passes its runtime file ID as</a:t>
            </a:r>
            <a:endParaRPr lang="en-US" dirty="0"/>
          </a:p>
          <a:p>
            <a:pPr>
              <a:defRPr sz="1250">
                <a:solidFill>
                  <a:srgbClr val="DCE6EE"/>
                </a:solidFill>
                <a:latin typeface="Aptos"/>
              </a:defRPr>
            </a:pPr>
            <a:r>
              <a:rPr dirty="0"/>
              <a:t> </a:t>
            </a:r>
            <a:r>
              <a:rPr dirty="0" err="1"/>
              <a:t>analysis_file_id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600200"/>
            <a:ext cx="3383280" cy="3474720"/>
          </a:xfrm>
          <a:prstGeom prst="roundRect">
            <a:avLst/>
          </a:prstGeom>
          <a:solidFill>
            <a:srgbClr val="1C2D46"/>
          </a:solidFill>
          <a:ln w="12700">
            <a:solidFill>
              <a:srgbClr val="374B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29016" y="1600200"/>
            <a:ext cx="73152" cy="3474720"/>
          </a:xfrm>
          <a:prstGeom prst="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57616" y="178308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 Display"/>
              </a:defRPr>
            </a:pPr>
            <a:r>
              <a:t>Code Interpreter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2221992"/>
            <a:ext cx="1960601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DCE6EE"/>
                </a:solidFill>
                <a:latin typeface="Aptos"/>
              </a:defRPr>
            </a:pPr>
            <a:r>
              <a:rPr dirty="0"/>
              <a:t>Python-based analysis </a:t>
            </a:r>
            <a:endParaRPr lang="en-US" dirty="0"/>
          </a:p>
          <a:p>
            <a:pPr>
              <a:defRPr sz="1250">
                <a:solidFill>
                  <a:srgbClr val="DCE6EE"/>
                </a:solidFill>
                <a:latin typeface="Aptos"/>
              </a:defRPr>
            </a:pPr>
            <a:r>
              <a:rPr dirty="0"/>
              <a:t>and transformation of the </a:t>
            </a:r>
            <a:endParaRPr lang="en-US" dirty="0"/>
          </a:p>
          <a:p>
            <a:pPr>
              <a:defRPr sz="1250">
                <a:solidFill>
                  <a:srgbClr val="DCE6EE"/>
                </a:solidFill>
                <a:latin typeface="Aptos"/>
              </a:defRPr>
            </a:pPr>
            <a:r>
              <a:rPr dirty="0"/>
              <a:t>actual Excel workbook.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5440680"/>
            <a:ext cx="4160520" cy="384048"/>
          </a:xfrm>
          <a:prstGeom prst="roundRect">
            <a:avLst/>
          </a:prstGeom>
          <a:solidFill>
            <a:srgbClr val="1C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NO CHAT ATTACHMENT REQUIRED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41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3CDD7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3CDD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1"/>
                </a:solidFill>
                <a:latin typeface="Aptos Display"/>
              </a:defRPr>
            </a:pPr>
            <a:r>
              <a:t>What the AI Cleans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484"/>
                </a:solidFill>
                <a:latin typeface="Aptos"/>
              </a:defRPr>
            </a:pPr>
            <a:r>
              <a:t>The agent is instructed to correct high-confidence problems without inventing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600200" cy="384048"/>
          </a:xfrm>
          <a:prstGeom prst="roundRect">
            <a:avLst/>
          </a:prstGeom>
          <a:solidFill>
            <a:srgbClr val="D2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SPELLING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527048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A36"/>
                </a:solidFill>
              </a:defRPr>
            </a:pPr>
            <a:r>
              <a:t>Jhon → John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2011680"/>
            <a:ext cx="8046720" cy="13716"/>
          </a:xfrm>
          <a:prstGeom prst="rect">
            <a:avLst/>
          </a:prstGeom>
          <a:solidFill>
            <a:srgbClr val="E1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2350008"/>
            <a:ext cx="1600200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36829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A36"/>
                </a:solidFill>
              </a:defRPr>
            </a:pPr>
            <a:r>
              <a:t>Californa → California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2852928"/>
            <a:ext cx="8046720" cy="13716"/>
          </a:xfrm>
          <a:prstGeom prst="rect">
            <a:avLst/>
          </a:prstGeom>
          <a:solidFill>
            <a:srgbClr val="E1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3191256"/>
            <a:ext cx="1600200" cy="384048"/>
          </a:xfrm>
          <a:prstGeom prst="roundRect">
            <a:avLst/>
          </a:prstGeom>
          <a:solidFill>
            <a:srgbClr val="2F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MISPLACED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209544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A36"/>
                </a:solidFill>
              </a:defRPr>
            </a:pPr>
            <a:r>
              <a:t>Phone number in 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3694176"/>
            <a:ext cx="8046720" cy="13716"/>
          </a:xfrm>
          <a:prstGeom prst="rect">
            <a:avLst/>
          </a:prstGeom>
          <a:solidFill>
            <a:srgbClr val="E1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7240" y="4032504"/>
            <a:ext cx="1600200" cy="384048"/>
          </a:xfrm>
          <a:prstGeom prst="roundRect">
            <a:avLst/>
          </a:prstGeom>
          <a:solidFill>
            <a:srgbClr val="EB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FORMATTING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050791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A36"/>
                </a:solidFill>
              </a:defRPr>
            </a:pPr>
            <a:r>
              <a:t>Inconsistent capitalization / formats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4535424"/>
            <a:ext cx="8046720" cy="13716"/>
          </a:xfrm>
          <a:prstGeom prst="rect">
            <a:avLst/>
          </a:prstGeom>
          <a:solidFill>
            <a:srgbClr val="E1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4873752"/>
            <a:ext cx="1600200" cy="384048"/>
          </a:xfrm>
          <a:prstGeom prst="round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89204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02A36"/>
                </a:solidFill>
              </a:defRPr>
            </a:pPr>
            <a:r>
              <a:t>Numeric/text consistency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5376672"/>
            <a:ext cx="8046720" cy="13716"/>
          </a:xfrm>
          <a:prstGeom prst="rect">
            <a:avLst/>
          </a:prstGeom>
          <a:solidFill>
            <a:srgbClr val="E1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4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77484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1"/>
                </a:solidFill>
                <a:latin typeface="Aptos Display"/>
              </a:defRPr>
            </a:pPr>
            <a:r>
              <a:t>Demo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484"/>
                </a:solidFill>
                <a:latin typeface="Aptos"/>
              </a:defRPr>
            </a:pPr>
            <a:r>
              <a:t>A deliberately inconsistent workbook gives the AI real data-quality problems to solve.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7432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9688"/>
                </a:solidFill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77484"/>
                </a:solidFill>
              </a:defRPr>
            </a:pPr>
            <a:r>
              <a:t>CLIENT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508760"/>
            <a:ext cx="27432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43400" y="162763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FB4CA"/>
                </a:solidFill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488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77484"/>
                </a:solidFill>
              </a:defRPr>
            </a:pPr>
            <a:r>
              <a:t>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508760"/>
            <a:ext cx="274320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E1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0" y="1627632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21E31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488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77484"/>
                </a:solidFill>
              </a:defRPr>
            </a:pPr>
            <a:r>
              <a:t>SOURCE WORKBOOK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Client 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10512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First Name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9504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Last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68496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Phone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79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Company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05472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63456" y="3337560"/>
            <a:ext cx="1042415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Industry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42448" y="3337560"/>
            <a:ext cx="1289304" cy="56692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Annual Revenue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7639" y="4892040"/>
            <a:ext cx="4251960" cy="384048"/>
          </a:xfrm>
          <a:prstGeom prst="roundRect">
            <a:avLst/>
          </a:prstGeom>
          <a:solidFill>
            <a:srgbClr val="D2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INTENTIONALLY INCONSISTENT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4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77484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1"/>
                </a:solidFill>
                <a:latin typeface="Aptos Display"/>
              </a:defRPr>
            </a:pPr>
            <a:r>
              <a:t>Output: Cleaned Workbook +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484"/>
                </a:solidFill>
                <a:latin typeface="Aptos"/>
              </a:defRPr>
            </a:pPr>
            <a:r>
              <a:t>The AI creates a new workbook instead of overwriting the source.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663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3063240"/>
          </a:xfrm>
          <a:prstGeom prst="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Cleaned_Data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4754880" cy="2313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SQL-ready dataset</a:t>
            </a:r>
            <a:br/>
            <a:br/>
            <a:r>
              <a:t>• Corrected high-confidence values</a:t>
            </a:r>
            <a:br/>
            <a:r>
              <a:t>• Consistent structure</a:t>
            </a:r>
            <a:br/>
            <a:r>
              <a:t>• Original valid data preserved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16636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73152" cy="3063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Cleaning_Log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76272"/>
            <a:ext cx="4754880" cy="23134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Traceable changes</a:t>
            </a:r>
            <a:br/>
            <a:br/>
            <a:r>
              <a:t>• Original value</a:t>
            </a:r>
            <a:br/>
            <a:r>
              <a:t>• Cleaned value</a:t>
            </a:r>
            <a:br/>
            <a:r>
              <a:t>• Action and reason</a:t>
            </a:r>
            <a:br/>
            <a:r>
              <a:t>• Confidence 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5166360"/>
            <a:ext cx="4251960" cy="38404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cleaned_client_data.xlsx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4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7748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Current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Local application + Microsoft Foundry + Code Interpreter.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828800" cy="1417320"/>
          </a:xfrm>
          <a:prstGeom prst="roundRect">
            <a:avLst/>
          </a:prstGeom>
          <a:solidFill>
            <a:srgbClr val="1C2D46"/>
          </a:solidFill>
          <a:ln w="25400">
            <a:solidFill>
              <a:srgbClr val="2FB4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STREAMLIT</a:t>
            </a:r>
          </a:p>
          <a:p>
            <a:pPr algn="ctr">
              <a:defRPr sz="1050">
                <a:solidFill>
                  <a:srgbClr val="CDDAE6"/>
                </a:solidFill>
              </a:defRPr>
            </a:pPr>
            <a:r>
              <a:t>Upload</a:t>
            </a:r>
            <a:br/>
            <a:r>
              <a:t>Preview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2542032"/>
            <a:ext cx="393192" cy="0"/>
          </a:xfrm>
          <a:prstGeom prst="line">
            <a:avLst/>
          </a:prstGeom>
          <a:ln w="31750">
            <a:solidFill>
              <a:srgbClr val="2F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1828800"/>
            <a:ext cx="1828800" cy="1417320"/>
          </a:xfrm>
          <a:prstGeom prst="roundRect">
            <a:avLst/>
          </a:prstGeom>
          <a:solidFill>
            <a:srgbClr val="1C2D46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PYTHON</a:t>
            </a:r>
          </a:p>
          <a:p>
            <a:pPr algn="ctr">
              <a:defRPr sz="1050">
                <a:solidFill>
                  <a:srgbClr val="CDDAE6"/>
                </a:solidFill>
              </a:defRPr>
            </a:pPr>
            <a:r>
              <a:t>File handling</a:t>
            </a:r>
            <a:br/>
            <a:r>
              <a:t>Orchestration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63440" y="2542032"/>
            <a:ext cx="393192" cy="0"/>
          </a:xfrm>
          <a:prstGeom prst="line">
            <a:avLst/>
          </a:prstGeom>
          <a:ln w="31750">
            <a:solidFill>
              <a:srgbClr val="2F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66360" y="1828800"/>
            <a:ext cx="1828800" cy="1417320"/>
          </a:xfrm>
          <a:prstGeom prst="roundRect">
            <a:avLst/>
          </a:prstGeom>
          <a:solidFill>
            <a:srgbClr val="1C2D46"/>
          </a:solidFill>
          <a:ln w="25400">
            <a:solidFill>
              <a:srgbClr val="32A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FOUNDRY</a:t>
            </a:r>
          </a:p>
          <a:p>
            <a:pPr algn="ctr">
              <a:defRPr sz="1050">
                <a:solidFill>
                  <a:srgbClr val="CDDAE6"/>
                </a:solidFill>
              </a:defRPr>
            </a:pPr>
            <a:r>
              <a:t>Agent</a:t>
            </a:r>
            <a:br/>
            <a:r>
              <a:t>Structured input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95160" y="2542032"/>
            <a:ext cx="393192" cy="0"/>
          </a:xfrm>
          <a:prstGeom prst="line">
            <a:avLst/>
          </a:prstGeom>
          <a:ln w="31750">
            <a:solidFill>
              <a:srgbClr val="2F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98079" y="1828800"/>
            <a:ext cx="1828800" cy="1417320"/>
          </a:xfrm>
          <a:prstGeom prst="roundRect">
            <a:avLst/>
          </a:prstGeom>
          <a:solidFill>
            <a:srgbClr val="1C2D46"/>
          </a:solidFill>
          <a:ln w="25400">
            <a:solidFill>
              <a:srgbClr val="EBA5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CODE INTERPRETER</a:t>
            </a:r>
          </a:p>
          <a:p>
            <a:pPr algn="ctr">
              <a:defRPr sz="1050">
                <a:solidFill>
                  <a:srgbClr val="CDDAE6"/>
                </a:solidFill>
              </a:defRPr>
            </a:pPr>
            <a:r>
              <a:t>pandas</a:t>
            </a:r>
            <a:br/>
            <a:r>
              <a:t>openpyxl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2542032"/>
            <a:ext cx="393192" cy="0"/>
          </a:xfrm>
          <a:prstGeom prst="line">
            <a:avLst/>
          </a:prstGeom>
          <a:ln w="31750">
            <a:solidFill>
              <a:srgbClr val="2FB4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828800"/>
            <a:ext cx="1828800" cy="1417320"/>
          </a:xfrm>
          <a:prstGeom prst="roundRect">
            <a:avLst/>
          </a:prstGeom>
          <a:solidFill>
            <a:srgbClr val="2D3E58"/>
          </a:solidFill>
          <a:ln w="25400">
            <a:solidFill>
              <a:srgbClr val="1C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OUTPUT</a:t>
            </a:r>
          </a:p>
          <a:p>
            <a:pPr algn="ctr">
              <a:defRPr sz="1050">
                <a:solidFill>
                  <a:srgbClr val="CDDAE6"/>
                </a:solidFill>
              </a:defRPr>
            </a:pPr>
            <a:r>
              <a:t>Cleaned Excel</a:t>
            </a:r>
            <a:br/>
            <a:r>
              <a:t>Cleaning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Runtime file IDs keep the workflow dynamic—each upload can be processed by the same agent.</a:t>
            </a:r>
          </a:p>
          <a:p>
            <a:pPr>
              <a:spcAft>
                <a:spcPts val="10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The database layer remains separate so the cleaned result can be validated before import.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41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3CDD7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3CDD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1"/>
                </a:solidFill>
                <a:latin typeface="Aptos Display"/>
              </a:defRPr>
            </a:pPr>
            <a:r>
              <a:t>Why This Approach?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77484"/>
                </a:solidFill>
                <a:latin typeface="Aptos"/>
              </a:defRPr>
            </a:pPr>
            <a:r>
              <a:t>AI handles repetitive work while the application keeps the process controlled.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73152" cy="1417320"/>
          </a:xfrm>
          <a:prstGeom prst="rect">
            <a:avLst/>
          </a:prstGeom>
          <a:solidFill>
            <a:srgbClr val="2F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84832"/>
            <a:ext cx="30175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Reduce manual spreadsheet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630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46304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084832"/>
            <a:ext cx="30175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Apply the same rules repeatedly.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46304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55864" y="1463040"/>
            <a:ext cx="73152" cy="1417320"/>
          </a:xfrm>
          <a:prstGeom prst="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64592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TRACEABLE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084832"/>
            <a:ext cx="30175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Document what changed and why.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461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246120"/>
            <a:ext cx="73152" cy="1417320"/>
          </a:xfrm>
          <a:prstGeom prst="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429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SCALABLE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67911"/>
            <a:ext cx="30175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Reuse the workflow across client 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2461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70832" y="3246120"/>
            <a:ext cx="73152" cy="1417320"/>
          </a:xfrm>
          <a:prstGeom prst="rect">
            <a:avLst/>
          </a:prstGeom>
          <a:solidFill>
            <a:srgbClr val="EB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3429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CONTROLLED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3867911"/>
            <a:ext cx="30175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Keep database writes outside the AI layer.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55864" y="32461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55864" y="3246120"/>
            <a:ext cx="73152" cy="1417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34290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1"/>
                </a:solidFill>
                <a:latin typeface="Aptos Display"/>
              </a:defRPr>
            </a:pPr>
            <a:r>
              <a:t>EXPLAINABLE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3867911"/>
            <a:ext cx="301752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677484"/>
                </a:solidFill>
                <a:latin typeface="Aptos"/>
              </a:defRPr>
            </a:pPr>
            <a:r>
              <a:t>Expose cleaning decisions through a log.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794760" y="5257800"/>
            <a:ext cx="4572000" cy="384048"/>
          </a:xfrm>
          <a:prstGeom prst="roundRect">
            <a:avLst/>
          </a:prstGeom>
          <a:solidFill>
            <a:srgbClr val="121E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ASSISTANCE + APPLICATION CONTROL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DC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77484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7748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D91958-2BCE-E47C-47E7-207507949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4316"/>
            <a:ext cx="11277600" cy="484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217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E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From a working AI cleaning demo to a complete migration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658368" cy="384048"/>
          </a:xfrm>
          <a:prstGeom prst="roundRect">
            <a:avLst/>
          </a:prstGeom>
          <a:solidFill>
            <a:srgbClr val="2F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99616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Human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3D2DF"/>
                </a:solidFill>
              </a:defRPr>
            </a:pPr>
            <a:r>
              <a:t>Accept or reject flagged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002536"/>
            <a:ext cx="9692640" cy="9144"/>
          </a:xfrm>
          <a:prstGeom prst="rect">
            <a:avLst/>
          </a:prstGeom>
          <a:solidFill>
            <a:srgbClr val="3A4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2496312"/>
            <a:ext cx="658368" cy="384048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487168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96312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3D2DF"/>
                </a:solidFill>
              </a:defRPr>
            </a:pPr>
            <a:r>
              <a:t>Check required fields and SQL data 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990088"/>
            <a:ext cx="9692640" cy="9144"/>
          </a:xfrm>
          <a:prstGeom prst="rect">
            <a:avLst/>
          </a:prstGeom>
          <a:solidFill>
            <a:srgbClr val="3A4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3483864"/>
            <a:ext cx="658368" cy="384048"/>
          </a:xfrm>
          <a:prstGeom prst="roundRect">
            <a:avLst/>
          </a:prstGeom>
          <a:solidFill>
            <a:srgbClr val="32A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74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SQL 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483864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3D2DF"/>
                </a:solidFill>
              </a:defRPr>
            </a:pPr>
            <a:r>
              <a:t>Load approved records into SQL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3977639"/>
            <a:ext cx="9692640" cy="9144"/>
          </a:xfrm>
          <a:prstGeom prst="rect">
            <a:avLst/>
          </a:prstGeom>
          <a:solidFill>
            <a:srgbClr val="3A4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4471416"/>
            <a:ext cx="658368" cy="384048"/>
          </a:xfrm>
          <a:prstGeom prst="roundRect">
            <a:avLst/>
          </a:prstGeom>
          <a:solidFill>
            <a:srgbClr val="EB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46227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71416"/>
            <a:ext cx="6309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3D2DF"/>
                </a:solidFill>
              </a:defRPr>
            </a:pPr>
            <a:r>
              <a:t>Record import results and exceptions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5321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Messy spreadsheet  →  trusted data  →  SQL-ready migration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291072"/>
            <a:ext cx="10927080" cy="10972"/>
          </a:xfrm>
          <a:prstGeom prst="rect">
            <a:avLst/>
          </a:prstGeom>
          <a:solidFill>
            <a:srgbClr val="4153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638251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C3CDD7"/>
                </a:solidFill>
              </a:defRPr>
            </a:pPr>
            <a:r>
              <a:t>AI-Powered Data Migration  •  Hackathon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64224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3CDD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617</Words>
  <Application>Microsoft Office PowerPoint</Application>
  <PresentationFormat>Widescreen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Claudia Yassu Arrunategui</cp:lastModifiedBy>
  <cp:revision>2</cp:revision>
  <dcterms:created xsi:type="dcterms:W3CDTF">2013-01-27T09:14:16Z</dcterms:created>
  <dcterms:modified xsi:type="dcterms:W3CDTF">2026-08-22T21:03:13Z</dcterms:modified>
  <cp:category/>
</cp:coreProperties>
</file>